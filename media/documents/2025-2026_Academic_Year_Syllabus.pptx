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4F0E-BAE1-450A-A30D-892FA9F17B3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D4313-D43D-46F9-B464-0B5ADF7A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04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4F0E-BAE1-450A-A30D-892FA9F17B3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D4313-D43D-46F9-B464-0B5ADF7A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968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4F0E-BAE1-450A-A30D-892FA9F17B3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D4313-D43D-46F9-B464-0B5ADF7A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86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4F0E-BAE1-450A-A30D-892FA9F17B3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D4313-D43D-46F9-B464-0B5ADF7A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869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4F0E-BAE1-450A-A30D-892FA9F17B3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D4313-D43D-46F9-B464-0B5ADF7A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471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4F0E-BAE1-450A-A30D-892FA9F17B3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D4313-D43D-46F9-B464-0B5ADF7A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15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4F0E-BAE1-450A-A30D-892FA9F17B3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D4313-D43D-46F9-B464-0B5ADF7A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31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4F0E-BAE1-450A-A30D-892FA9F17B3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D4313-D43D-46F9-B464-0B5ADF7A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7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4F0E-BAE1-450A-A30D-892FA9F17B3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D4313-D43D-46F9-B464-0B5ADF7A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18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4F0E-BAE1-450A-A30D-892FA9F17B3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D4313-D43D-46F9-B464-0B5ADF7A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06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4F0E-BAE1-450A-A30D-892FA9F17B3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D4313-D43D-46F9-B464-0B5ADF7A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2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34F0E-BAE1-450A-A30D-892FA9F17B3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D4313-D43D-46F9-B464-0B5ADF7A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61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38946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2025-2026 Academic Year</a:t>
            </a:r>
            <a:endParaRPr lang="en-US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6364" y="3001674"/>
            <a:ext cx="9144000" cy="591271"/>
          </a:xfrm>
        </p:spPr>
        <p:txBody>
          <a:bodyPr>
            <a:noAutofit/>
          </a:bodyPr>
          <a:lstStyle/>
          <a:p>
            <a:r>
              <a:rPr lang="en-US" sz="4800" dirty="0" smtClean="0"/>
              <a:t>Syllabus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87237" y="5098617"/>
            <a:ext cx="9144000" cy="10389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smtClean="0"/>
              <a:t>University of Computer Studies (</a:t>
            </a:r>
            <a:r>
              <a:rPr lang="en-US" sz="2000" b="1" dirty="0" err="1" smtClean="0"/>
              <a:t>Taungoo</a:t>
            </a:r>
            <a:r>
              <a:rPr lang="en-US" sz="2000" b="1" dirty="0" smtClean="0"/>
              <a:t>)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579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latin typeface="Pyidaungsu" panose="020B0502040204020203" pitchFamily="34" charset="0"/>
                <a:cs typeface="Pyidaungsu" panose="020B0502040204020203" pitchFamily="34" charset="0"/>
              </a:rPr>
              <a:t>B.C.Sc</a:t>
            </a:r>
            <a:r>
              <a:rPr lang="en-US" b="1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. </a:t>
            </a:r>
            <a:r>
              <a:rPr lang="my-MM" b="1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(ကွန်ပျူတာသိပ္ပံ)</a:t>
            </a:r>
            <a:endParaRPr lang="en-US" b="1" dirty="0">
              <a:latin typeface="Pyidaungsu" panose="020B0502040204020203" pitchFamily="34" charset="0"/>
              <a:cs typeface="Pyidaungsu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409" y="1825624"/>
            <a:ext cx="10767391" cy="4664628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dirty="0" err="1">
                <a:latin typeface="Pyidaungsu" panose="020B0502040204020203" pitchFamily="34" charset="0"/>
                <a:cs typeface="Pyidaungsu" panose="020B0502040204020203" pitchFamily="34" charset="0"/>
              </a:rPr>
              <a:t>B.C.Sc</a:t>
            </a:r>
            <a:r>
              <a:rPr lang="en-US" dirty="0">
                <a:latin typeface="Pyidaungsu" panose="020B0502040204020203" pitchFamily="34" charset="0"/>
                <a:cs typeface="Pyidaungsu" panose="020B0502040204020203" pitchFamily="34" charset="0"/>
              </a:rPr>
              <a:t>. (Four Years Studies) = 143 Credits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Pyidaungsu" panose="020B0502040204020203" pitchFamily="34" charset="0"/>
                <a:cs typeface="Pyidaungsu" panose="020B0502040204020203" pitchFamily="34" charset="0"/>
              </a:rPr>
              <a:t>Internship	-	12 Credits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Pyidaungsu" panose="020B0502040204020203" pitchFamily="34" charset="0"/>
                <a:cs typeface="Pyidaungsu" panose="020B0502040204020203" pitchFamily="34" charset="0"/>
              </a:rPr>
              <a:t> </a:t>
            </a:r>
            <a:r>
              <a:rPr lang="en-US" b="1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Total </a:t>
            </a:r>
            <a:r>
              <a:rPr lang="en-US" b="1" dirty="0">
                <a:latin typeface="Pyidaungsu" panose="020B0502040204020203" pitchFamily="34" charset="0"/>
                <a:cs typeface="Pyidaungsu" panose="020B0502040204020203" pitchFamily="34" charset="0"/>
              </a:rPr>
              <a:t>Credits – Semester 1 to 8 = 155 Credits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Pyidaungsu" panose="020B0502040204020203" pitchFamily="34" charset="0"/>
                <a:cs typeface="Pyidaungsu" panose="020B0502040204020203" pitchFamily="34" charset="0"/>
              </a:rPr>
              <a:t> </a:t>
            </a:r>
            <a:r>
              <a:rPr lang="en-US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Maximum </a:t>
            </a:r>
            <a:r>
              <a:rPr lang="en-US" dirty="0">
                <a:latin typeface="Pyidaungsu" panose="020B0502040204020203" pitchFamily="34" charset="0"/>
                <a:cs typeface="Pyidaungsu" panose="020B0502040204020203" pitchFamily="34" charset="0"/>
              </a:rPr>
              <a:t>Candidature Period = 7 years </a:t>
            </a:r>
            <a:endParaRPr lang="my-MM" dirty="0" smtClean="0">
              <a:latin typeface="Pyidaungsu" panose="020B0502040204020203" pitchFamily="34" charset="0"/>
              <a:cs typeface="Pyidaungsu" panose="020B0502040204020203" pitchFamily="34" charset="0"/>
            </a:endParaRPr>
          </a:p>
          <a:p>
            <a:pPr>
              <a:lnSpc>
                <a:spcPct val="160000"/>
              </a:lnSpc>
            </a:pPr>
            <a:r>
              <a:rPr lang="en-US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Maximum </a:t>
            </a:r>
            <a:r>
              <a:rPr lang="en-US" dirty="0">
                <a:latin typeface="Pyidaungsu" panose="020B0502040204020203" pitchFamily="34" charset="0"/>
                <a:cs typeface="Pyidaungsu" panose="020B0502040204020203" pitchFamily="34" charset="0"/>
              </a:rPr>
              <a:t>Re-exam time = 3 subjects * 7 semesters = 21 subjects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014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84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B.C.Sc</a:t>
            </a:r>
            <a:r>
              <a:rPr lang="en-US" dirty="0" smtClean="0"/>
              <a:t>. Syllabus by Semester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091" y="1068243"/>
            <a:ext cx="2440709" cy="520411"/>
          </a:xfrm>
        </p:spPr>
        <p:txBody>
          <a:bodyPr/>
          <a:lstStyle/>
          <a:p>
            <a:r>
              <a:rPr lang="en-US" dirty="0" smtClean="0"/>
              <a:t>Semester- 1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605274"/>
              </p:ext>
            </p:extLst>
          </p:nvPr>
        </p:nvGraphicFramePr>
        <p:xfrm>
          <a:off x="559665" y="1853333"/>
          <a:ext cx="10385425" cy="44458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5385">
                  <a:extLst>
                    <a:ext uri="{9D8B030D-6E8A-4147-A177-3AD203B41FA5}">
                      <a16:colId xmlns:a16="http://schemas.microsoft.com/office/drawing/2014/main" val="2584237489"/>
                    </a:ext>
                  </a:extLst>
                </a:gridCol>
                <a:gridCol w="1387842">
                  <a:extLst>
                    <a:ext uri="{9D8B030D-6E8A-4147-A177-3AD203B41FA5}">
                      <a16:colId xmlns:a16="http://schemas.microsoft.com/office/drawing/2014/main" val="3723742969"/>
                    </a:ext>
                  </a:extLst>
                </a:gridCol>
                <a:gridCol w="3198794">
                  <a:extLst>
                    <a:ext uri="{9D8B030D-6E8A-4147-A177-3AD203B41FA5}">
                      <a16:colId xmlns:a16="http://schemas.microsoft.com/office/drawing/2014/main" val="2215285377"/>
                    </a:ext>
                  </a:extLst>
                </a:gridCol>
                <a:gridCol w="935624">
                  <a:extLst>
                    <a:ext uri="{9D8B030D-6E8A-4147-A177-3AD203B41FA5}">
                      <a16:colId xmlns:a16="http://schemas.microsoft.com/office/drawing/2014/main" val="3182407736"/>
                    </a:ext>
                  </a:extLst>
                </a:gridCol>
                <a:gridCol w="1029186">
                  <a:extLst>
                    <a:ext uri="{9D8B030D-6E8A-4147-A177-3AD203B41FA5}">
                      <a16:colId xmlns:a16="http://schemas.microsoft.com/office/drawing/2014/main" val="4174278353"/>
                    </a:ext>
                  </a:extLst>
                </a:gridCol>
                <a:gridCol w="1029186">
                  <a:extLst>
                    <a:ext uri="{9D8B030D-6E8A-4147-A177-3AD203B41FA5}">
                      <a16:colId xmlns:a16="http://schemas.microsoft.com/office/drawing/2014/main" val="3671727238"/>
                    </a:ext>
                  </a:extLst>
                </a:gridCol>
                <a:gridCol w="1264132">
                  <a:extLst>
                    <a:ext uri="{9D8B030D-6E8A-4147-A177-3AD203B41FA5}">
                      <a16:colId xmlns:a16="http://schemas.microsoft.com/office/drawing/2014/main" val="4011387075"/>
                    </a:ext>
                  </a:extLst>
                </a:gridCol>
                <a:gridCol w="1005276">
                  <a:extLst>
                    <a:ext uri="{9D8B030D-6E8A-4147-A177-3AD203B41FA5}">
                      <a16:colId xmlns:a16="http://schemas.microsoft.com/office/drawing/2014/main" val="2893265161"/>
                    </a:ext>
                  </a:extLst>
                </a:gridCol>
              </a:tblGrid>
              <a:tr h="9542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Sr.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Subject Code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Course Description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Type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Pre-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requisite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Lecture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Practical/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Lab/Tuto.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Credit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2252657396"/>
                  </a:ext>
                </a:extLst>
              </a:tr>
              <a:tr h="3932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M-1101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Myanmar Language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0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3369480459"/>
                  </a:ext>
                </a:extLst>
              </a:tr>
              <a:tr h="3643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E-1101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English Proficiency I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674713566"/>
                  </a:ext>
                </a:extLst>
              </a:tr>
              <a:tr h="3932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P-1101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College Physics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2409888504"/>
                  </a:ext>
                </a:extLst>
              </a:tr>
              <a:tr h="3054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CST-1141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Calculus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4047524961"/>
                  </a:ext>
                </a:extLst>
              </a:tr>
              <a:tr h="6298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CST-1102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Principle of Information Technology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1473357688"/>
                  </a:ext>
                </a:extLst>
              </a:tr>
              <a:tr h="4701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CST-1123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Basic Data Processing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0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628230646"/>
                  </a:ext>
                </a:extLst>
              </a:tr>
              <a:tr h="6298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7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CST-1154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Web Development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(HTML5+ CSS)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0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1850904424"/>
                  </a:ext>
                </a:extLst>
              </a:tr>
              <a:tr h="305410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Total Credit 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18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4090426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1617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84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B.C.Sc</a:t>
            </a:r>
            <a:r>
              <a:rPr lang="en-US" dirty="0" smtClean="0"/>
              <a:t>. Syllabus by Semester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091" y="1068243"/>
            <a:ext cx="2440709" cy="520411"/>
          </a:xfrm>
        </p:spPr>
        <p:txBody>
          <a:bodyPr/>
          <a:lstStyle/>
          <a:p>
            <a:r>
              <a:rPr lang="en-US" dirty="0" smtClean="0"/>
              <a:t>Semester- 2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303534"/>
              </p:ext>
            </p:extLst>
          </p:nvPr>
        </p:nvGraphicFramePr>
        <p:xfrm>
          <a:off x="1043611" y="1853332"/>
          <a:ext cx="10310191" cy="46269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2213">
                  <a:extLst>
                    <a:ext uri="{9D8B030D-6E8A-4147-A177-3AD203B41FA5}">
                      <a16:colId xmlns:a16="http://schemas.microsoft.com/office/drawing/2014/main" val="3137158877"/>
                    </a:ext>
                  </a:extLst>
                </a:gridCol>
                <a:gridCol w="1411514">
                  <a:extLst>
                    <a:ext uri="{9D8B030D-6E8A-4147-A177-3AD203B41FA5}">
                      <a16:colId xmlns:a16="http://schemas.microsoft.com/office/drawing/2014/main" val="1233018750"/>
                    </a:ext>
                  </a:extLst>
                </a:gridCol>
                <a:gridCol w="3171815">
                  <a:extLst>
                    <a:ext uri="{9D8B030D-6E8A-4147-A177-3AD203B41FA5}">
                      <a16:colId xmlns:a16="http://schemas.microsoft.com/office/drawing/2014/main" val="1844904937"/>
                    </a:ext>
                  </a:extLst>
                </a:gridCol>
                <a:gridCol w="917484">
                  <a:extLst>
                    <a:ext uri="{9D8B030D-6E8A-4147-A177-3AD203B41FA5}">
                      <a16:colId xmlns:a16="http://schemas.microsoft.com/office/drawing/2014/main" val="1142464766"/>
                    </a:ext>
                  </a:extLst>
                </a:gridCol>
                <a:gridCol w="1058636">
                  <a:extLst>
                    <a:ext uri="{9D8B030D-6E8A-4147-A177-3AD203B41FA5}">
                      <a16:colId xmlns:a16="http://schemas.microsoft.com/office/drawing/2014/main" val="3009851280"/>
                    </a:ext>
                  </a:extLst>
                </a:gridCol>
                <a:gridCol w="1009540">
                  <a:extLst>
                    <a:ext uri="{9D8B030D-6E8A-4147-A177-3AD203B41FA5}">
                      <a16:colId xmlns:a16="http://schemas.microsoft.com/office/drawing/2014/main" val="2605167280"/>
                    </a:ext>
                  </a:extLst>
                </a:gridCol>
                <a:gridCol w="1246838">
                  <a:extLst>
                    <a:ext uri="{9D8B030D-6E8A-4147-A177-3AD203B41FA5}">
                      <a16:colId xmlns:a16="http://schemas.microsoft.com/office/drawing/2014/main" val="436432932"/>
                    </a:ext>
                  </a:extLst>
                </a:gridCol>
                <a:gridCol w="992151">
                  <a:extLst>
                    <a:ext uri="{9D8B030D-6E8A-4147-A177-3AD203B41FA5}">
                      <a16:colId xmlns:a16="http://schemas.microsoft.com/office/drawing/2014/main" val="4258570033"/>
                    </a:ext>
                  </a:extLst>
                </a:gridCol>
              </a:tblGrid>
              <a:tr h="936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Sr.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Subject Code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Course Description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Type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Pre-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requisite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Lecture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Practical/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Lab/Tuto.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Credit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2267326311"/>
                  </a:ext>
                </a:extLst>
              </a:tr>
              <a:tr h="4613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M-1201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Myanmar Language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0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787176510"/>
                  </a:ext>
                </a:extLst>
              </a:tr>
              <a:tr h="4235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E-1201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English Proficiency II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1496944849"/>
                  </a:ext>
                </a:extLst>
              </a:tr>
              <a:tr h="499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P-1201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College Physics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3732568823"/>
                  </a:ext>
                </a:extLst>
              </a:tr>
              <a:tr h="3575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CST-1241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Discrete Mathematics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689870925"/>
                  </a:ext>
                </a:extLst>
              </a:tr>
              <a:tr h="6689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CST-1212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Programming Logic &amp; Design  (Programming in C++)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2763411306"/>
                  </a:ext>
                </a:extLst>
              </a:tr>
              <a:tr h="4235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CST-1223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Database Fundamentals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1076231556"/>
                  </a:ext>
                </a:extLst>
              </a:tr>
              <a:tr h="4235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7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CST-1234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Digital and Logic Design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3074349544"/>
                  </a:ext>
                </a:extLst>
              </a:tr>
              <a:tr h="433026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Total Credit 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20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3065760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225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84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B.C.Sc</a:t>
            </a:r>
            <a:r>
              <a:rPr lang="en-US" dirty="0" smtClean="0"/>
              <a:t>. Syllabus by Semester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091" y="1068243"/>
            <a:ext cx="2440709" cy="520411"/>
          </a:xfrm>
        </p:spPr>
        <p:txBody>
          <a:bodyPr/>
          <a:lstStyle/>
          <a:p>
            <a:r>
              <a:rPr lang="en-US" dirty="0" smtClean="0"/>
              <a:t>Semester- 3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185060"/>
              </p:ext>
            </p:extLst>
          </p:nvPr>
        </p:nvGraphicFramePr>
        <p:xfrm>
          <a:off x="584904" y="1772920"/>
          <a:ext cx="10914669" cy="46875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1161">
                  <a:extLst>
                    <a:ext uri="{9D8B030D-6E8A-4147-A177-3AD203B41FA5}">
                      <a16:colId xmlns:a16="http://schemas.microsoft.com/office/drawing/2014/main" val="3946636096"/>
                    </a:ext>
                  </a:extLst>
                </a:gridCol>
                <a:gridCol w="1413823">
                  <a:extLst>
                    <a:ext uri="{9D8B030D-6E8A-4147-A177-3AD203B41FA5}">
                      <a16:colId xmlns:a16="http://schemas.microsoft.com/office/drawing/2014/main" val="91011462"/>
                    </a:ext>
                  </a:extLst>
                </a:gridCol>
                <a:gridCol w="3534557">
                  <a:extLst>
                    <a:ext uri="{9D8B030D-6E8A-4147-A177-3AD203B41FA5}">
                      <a16:colId xmlns:a16="http://schemas.microsoft.com/office/drawing/2014/main" val="393175509"/>
                    </a:ext>
                  </a:extLst>
                </a:gridCol>
                <a:gridCol w="859757">
                  <a:extLst>
                    <a:ext uri="{9D8B030D-6E8A-4147-A177-3AD203B41FA5}">
                      <a16:colId xmlns:a16="http://schemas.microsoft.com/office/drawing/2014/main" val="1780818193"/>
                    </a:ext>
                  </a:extLst>
                </a:gridCol>
                <a:gridCol w="1146343">
                  <a:extLst>
                    <a:ext uri="{9D8B030D-6E8A-4147-A177-3AD203B41FA5}">
                      <a16:colId xmlns:a16="http://schemas.microsoft.com/office/drawing/2014/main" val="2677664445"/>
                    </a:ext>
                  </a:extLst>
                </a:gridCol>
                <a:gridCol w="1050814">
                  <a:extLst>
                    <a:ext uri="{9D8B030D-6E8A-4147-A177-3AD203B41FA5}">
                      <a16:colId xmlns:a16="http://schemas.microsoft.com/office/drawing/2014/main" val="3218209351"/>
                    </a:ext>
                  </a:extLst>
                </a:gridCol>
                <a:gridCol w="1337400">
                  <a:extLst>
                    <a:ext uri="{9D8B030D-6E8A-4147-A177-3AD203B41FA5}">
                      <a16:colId xmlns:a16="http://schemas.microsoft.com/office/drawing/2014/main" val="1275898045"/>
                    </a:ext>
                  </a:extLst>
                </a:gridCol>
                <a:gridCol w="1050814">
                  <a:extLst>
                    <a:ext uri="{9D8B030D-6E8A-4147-A177-3AD203B41FA5}">
                      <a16:colId xmlns:a16="http://schemas.microsoft.com/office/drawing/2014/main" val="1188926016"/>
                    </a:ext>
                  </a:extLst>
                </a:gridCol>
              </a:tblGrid>
              <a:tr h="10746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Sr.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Subject Code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Course Description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Type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Pre-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requisite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Lecture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Practical/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Lab/Tuto.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Credit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85517436"/>
                  </a:ext>
                </a:extLst>
              </a:tr>
              <a:tr h="421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E-2101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English Proficiency III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E-1201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33988343"/>
                  </a:ext>
                </a:extLst>
              </a:tr>
              <a:tr h="421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CST-2141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Linear Algebra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98182698"/>
                  </a:ext>
                </a:extLst>
              </a:tr>
              <a:tr h="421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CST-2112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Data Structures and Algorithms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71905628"/>
                  </a:ext>
                </a:extLst>
              </a:tr>
              <a:tr h="4103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CST-2113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Programming Language in Java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2639425"/>
                  </a:ext>
                </a:extLst>
              </a:tr>
              <a:tr h="421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CST-2123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Software Engineering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37511748"/>
                  </a:ext>
                </a:extLst>
              </a:tr>
              <a:tr h="7092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CST-2135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Computer Architecture &amp; Organization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CST-1234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21036490"/>
                  </a:ext>
                </a:extLst>
              </a:tr>
              <a:tr h="4645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7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CST-2126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Database Management System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CST-1223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37774917"/>
                  </a:ext>
                </a:extLst>
              </a:tr>
              <a:tr h="343934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Total Credit 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21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04259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5599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84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B.C.Sc</a:t>
            </a:r>
            <a:r>
              <a:rPr lang="en-US" dirty="0" smtClean="0"/>
              <a:t>. Syllabus by Semester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091" y="1068243"/>
            <a:ext cx="2440709" cy="520411"/>
          </a:xfrm>
        </p:spPr>
        <p:txBody>
          <a:bodyPr/>
          <a:lstStyle/>
          <a:p>
            <a:r>
              <a:rPr lang="en-US" dirty="0" smtClean="0"/>
              <a:t>Semester- 4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039070"/>
              </p:ext>
            </p:extLst>
          </p:nvPr>
        </p:nvGraphicFramePr>
        <p:xfrm>
          <a:off x="704173" y="1745163"/>
          <a:ext cx="10649626" cy="46456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8183">
                  <a:extLst>
                    <a:ext uri="{9D8B030D-6E8A-4147-A177-3AD203B41FA5}">
                      <a16:colId xmlns:a16="http://schemas.microsoft.com/office/drawing/2014/main" val="1833427834"/>
                    </a:ext>
                  </a:extLst>
                </a:gridCol>
                <a:gridCol w="1266604">
                  <a:extLst>
                    <a:ext uri="{9D8B030D-6E8A-4147-A177-3AD203B41FA5}">
                      <a16:colId xmlns:a16="http://schemas.microsoft.com/office/drawing/2014/main" val="4137487319"/>
                    </a:ext>
                  </a:extLst>
                </a:gridCol>
                <a:gridCol w="3541936">
                  <a:extLst>
                    <a:ext uri="{9D8B030D-6E8A-4147-A177-3AD203B41FA5}">
                      <a16:colId xmlns:a16="http://schemas.microsoft.com/office/drawing/2014/main" val="3756917560"/>
                    </a:ext>
                  </a:extLst>
                </a:gridCol>
                <a:gridCol w="838879">
                  <a:extLst>
                    <a:ext uri="{9D8B030D-6E8A-4147-A177-3AD203B41FA5}">
                      <a16:colId xmlns:a16="http://schemas.microsoft.com/office/drawing/2014/main" val="1630339141"/>
                    </a:ext>
                  </a:extLst>
                </a:gridCol>
                <a:gridCol w="1118506">
                  <a:extLst>
                    <a:ext uri="{9D8B030D-6E8A-4147-A177-3AD203B41FA5}">
                      <a16:colId xmlns:a16="http://schemas.microsoft.com/office/drawing/2014/main" val="4062423201"/>
                    </a:ext>
                  </a:extLst>
                </a:gridCol>
                <a:gridCol w="1025297">
                  <a:extLst>
                    <a:ext uri="{9D8B030D-6E8A-4147-A177-3AD203B41FA5}">
                      <a16:colId xmlns:a16="http://schemas.microsoft.com/office/drawing/2014/main" val="991630106"/>
                    </a:ext>
                  </a:extLst>
                </a:gridCol>
                <a:gridCol w="1304924">
                  <a:extLst>
                    <a:ext uri="{9D8B030D-6E8A-4147-A177-3AD203B41FA5}">
                      <a16:colId xmlns:a16="http://schemas.microsoft.com/office/drawing/2014/main" val="3094773005"/>
                    </a:ext>
                  </a:extLst>
                </a:gridCol>
                <a:gridCol w="1025297">
                  <a:extLst>
                    <a:ext uri="{9D8B030D-6E8A-4147-A177-3AD203B41FA5}">
                      <a16:colId xmlns:a16="http://schemas.microsoft.com/office/drawing/2014/main" val="2432449253"/>
                    </a:ext>
                  </a:extLst>
                </a:gridCol>
              </a:tblGrid>
              <a:tr h="10385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Sr.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Subject Code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Course Description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Type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Pre-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requisite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Lecture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Practical/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Lab/Tuto.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Credit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70113313"/>
                  </a:ext>
                </a:extLst>
              </a:tr>
              <a:tr h="3547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E-2201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English Proficiency IV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20054435"/>
                  </a:ext>
                </a:extLst>
              </a:tr>
              <a:tr h="6854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CST-2241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Numerical Analysis and  Differential Equations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7031418"/>
                  </a:ext>
                </a:extLst>
              </a:tr>
              <a:tr h="3861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CST-2212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Artificial Intelligence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94963949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CST-2213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Operating Systems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89086145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CST-2224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Software Analysis and Design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CST-2123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7698271"/>
                  </a:ext>
                </a:extLst>
              </a:tr>
              <a:tr h="6854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CST-2235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Data Communication and Networking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099048"/>
                  </a:ext>
                </a:extLst>
              </a:tr>
              <a:tr h="3488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7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CS-2256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Web Technology (Java Script)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91610713"/>
                  </a:ext>
                </a:extLst>
              </a:tr>
              <a:tr h="332384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Total Credit 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21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54651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805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84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B.C.Sc</a:t>
            </a:r>
            <a:r>
              <a:rPr lang="en-US" dirty="0" smtClean="0"/>
              <a:t>. Syllabus by Semester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091" y="1068243"/>
            <a:ext cx="2440709" cy="520411"/>
          </a:xfrm>
        </p:spPr>
        <p:txBody>
          <a:bodyPr/>
          <a:lstStyle/>
          <a:p>
            <a:r>
              <a:rPr lang="en-US" dirty="0" smtClean="0"/>
              <a:t>Semester- 5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602595"/>
              </p:ext>
            </p:extLst>
          </p:nvPr>
        </p:nvGraphicFramePr>
        <p:xfrm>
          <a:off x="954156" y="1588656"/>
          <a:ext cx="10078280" cy="53225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0110">
                  <a:extLst>
                    <a:ext uri="{9D8B030D-6E8A-4147-A177-3AD203B41FA5}">
                      <a16:colId xmlns:a16="http://schemas.microsoft.com/office/drawing/2014/main" val="3776903345"/>
                    </a:ext>
                  </a:extLst>
                </a:gridCol>
                <a:gridCol w="2325137">
                  <a:extLst>
                    <a:ext uri="{9D8B030D-6E8A-4147-A177-3AD203B41FA5}">
                      <a16:colId xmlns:a16="http://schemas.microsoft.com/office/drawing/2014/main" val="3404052408"/>
                    </a:ext>
                  </a:extLst>
                </a:gridCol>
                <a:gridCol w="2325137">
                  <a:extLst>
                    <a:ext uri="{9D8B030D-6E8A-4147-A177-3AD203B41FA5}">
                      <a16:colId xmlns:a16="http://schemas.microsoft.com/office/drawing/2014/main" val="1780023169"/>
                    </a:ext>
                  </a:extLst>
                </a:gridCol>
                <a:gridCol w="920233">
                  <a:extLst>
                    <a:ext uri="{9D8B030D-6E8A-4147-A177-3AD203B41FA5}">
                      <a16:colId xmlns:a16="http://schemas.microsoft.com/office/drawing/2014/main" val="3257495132"/>
                    </a:ext>
                  </a:extLst>
                </a:gridCol>
                <a:gridCol w="833282">
                  <a:extLst>
                    <a:ext uri="{9D8B030D-6E8A-4147-A177-3AD203B41FA5}">
                      <a16:colId xmlns:a16="http://schemas.microsoft.com/office/drawing/2014/main" val="4068207697"/>
                    </a:ext>
                  </a:extLst>
                </a:gridCol>
                <a:gridCol w="832477">
                  <a:extLst>
                    <a:ext uri="{9D8B030D-6E8A-4147-A177-3AD203B41FA5}">
                      <a16:colId xmlns:a16="http://schemas.microsoft.com/office/drawing/2014/main" val="263416960"/>
                    </a:ext>
                  </a:extLst>
                </a:gridCol>
                <a:gridCol w="1084474">
                  <a:extLst>
                    <a:ext uri="{9D8B030D-6E8A-4147-A177-3AD203B41FA5}">
                      <a16:colId xmlns:a16="http://schemas.microsoft.com/office/drawing/2014/main" val="3226073345"/>
                    </a:ext>
                  </a:extLst>
                </a:gridCol>
                <a:gridCol w="667430">
                  <a:extLst>
                    <a:ext uri="{9D8B030D-6E8A-4147-A177-3AD203B41FA5}">
                      <a16:colId xmlns:a16="http://schemas.microsoft.com/office/drawing/2014/main" val="593503561"/>
                    </a:ext>
                  </a:extLst>
                </a:gridCol>
              </a:tblGrid>
              <a:tr h="10224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Sr.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Subject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Code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Course Description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Subject Types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Pre-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requisite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Lecture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Practical/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Lab/Tuto..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Credit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02015688"/>
                  </a:ext>
                </a:extLst>
              </a:tr>
              <a:tr h="3272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571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CST-3141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Probability and Statistics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63670295"/>
                  </a:ext>
                </a:extLst>
              </a:tr>
              <a:tr h="3272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571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CST-3112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Professional Ethics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90517179"/>
                  </a:ext>
                </a:extLst>
              </a:tr>
              <a:tr h="3272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571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CST-3113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Analysis of Algorithms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27407555"/>
                  </a:ext>
                </a:extLst>
              </a:tr>
              <a:tr h="6748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571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CS-3124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Software Quality Assurance and Testing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CST-2224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5724781"/>
                  </a:ext>
                </a:extLst>
              </a:tr>
              <a:tr h="3272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571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CS-3125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Database System Structure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CST-2126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83019542"/>
                  </a:ext>
                </a:extLst>
              </a:tr>
              <a:tr h="3272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571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CST-3136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Computer Networks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CST-2235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50311133"/>
                  </a:ext>
                </a:extLst>
              </a:tr>
              <a:tr h="327234"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7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571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CS-3117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0970" algn="l"/>
                        </a:tabLs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Web Programming (J2EE)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/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Elective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CST-2113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/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/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/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1250291"/>
                  </a:ext>
                </a:extLst>
              </a:tr>
              <a:tr h="3801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571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CS-3157A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0970" algn="l"/>
                        </a:tabLs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Web Programming (PHP)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594864"/>
                  </a:ext>
                </a:extLst>
              </a:tr>
              <a:tr h="4007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571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CS-3157B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0970" algn="l"/>
                        </a:tabLs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Web Programming (C#)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310984"/>
                  </a:ext>
                </a:extLst>
              </a:tr>
              <a:tr h="390436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Total Credit 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21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936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9151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713" y="0"/>
            <a:ext cx="10515600" cy="4384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B.C.Sc</a:t>
            </a:r>
            <a:r>
              <a:rPr lang="en-US" dirty="0" smtClean="0"/>
              <a:t>. Syllabus by Semester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395" y="230275"/>
            <a:ext cx="2440709" cy="520411"/>
          </a:xfrm>
        </p:spPr>
        <p:txBody>
          <a:bodyPr/>
          <a:lstStyle/>
          <a:p>
            <a:r>
              <a:rPr lang="en-US" dirty="0" smtClean="0"/>
              <a:t>Semester- 6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6431"/>
              </p:ext>
            </p:extLst>
          </p:nvPr>
        </p:nvGraphicFramePr>
        <p:xfrm>
          <a:off x="354394" y="668714"/>
          <a:ext cx="11353901" cy="63360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5477">
                  <a:extLst>
                    <a:ext uri="{9D8B030D-6E8A-4147-A177-3AD203B41FA5}">
                      <a16:colId xmlns:a16="http://schemas.microsoft.com/office/drawing/2014/main" val="3209789872"/>
                    </a:ext>
                  </a:extLst>
                </a:gridCol>
                <a:gridCol w="1242042">
                  <a:extLst>
                    <a:ext uri="{9D8B030D-6E8A-4147-A177-3AD203B41FA5}">
                      <a16:colId xmlns:a16="http://schemas.microsoft.com/office/drawing/2014/main" val="3659112489"/>
                    </a:ext>
                  </a:extLst>
                </a:gridCol>
                <a:gridCol w="3568368">
                  <a:extLst>
                    <a:ext uri="{9D8B030D-6E8A-4147-A177-3AD203B41FA5}">
                      <a16:colId xmlns:a16="http://schemas.microsoft.com/office/drawing/2014/main" val="1700624197"/>
                    </a:ext>
                  </a:extLst>
                </a:gridCol>
                <a:gridCol w="1258705">
                  <a:extLst>
                    <a:ext uri="{9D8B030D-6E8A-4147-A177-3AD203B41FA5}">
                      <a16:colId xmlns:a16="http://schemas.microsoft.com/office/drawing/2014/main" val="2759069910"/>
                    </a:ext>
                  </a:extLst>
                </a:gridCol>
                <a:gridCol w="1149832">
                  <a:extLst>
                    <a:ext uri="{9D8B030D-6E8A-4147-A177-3AD203B41FA5}">
                      <a16:colId xmlns:a16="http://schemas.microsoft.com/office/drawing/2014/main" val="4018042129"/>
                    </a:ext>
                  </a:extLst>
                </a:gridCol>
                <a:gridCol w="1142056">
                  <a:extLst>
                    <a:ext uri="{9D8B030D-6E8A-4147-A177-3AD203B41FA5}">
                      <a16:colId xmlns:a16="http://schemas.microsoft.com/office/drawing/2014/main" val="3968604095"/>
                    </a:ext>
                  </a:extLst>
                </a:gridCol>
                <a:gridCol w="1479785">
                  <a:extLst>
                    <a:ext uri="{9D8B030D-6E8A-4147-A177-3AD203B41FA5}">
                      <a16:colId xmlns:a16="http://schemas.microsoft.com/office/drawing/2014/main" val="3843593359"/>
                    </a:ext>
                  </a:extLst>
                </a:gridCol>
                <a:gridCol w="967636">
                  <a:extLst>
                    <a:ext uri="{9D8B030D-6E8A-4147-A177-3AD203B41FA5}">
                      <a16:colId xmlns:a16="http://schemas.microsoft.com/office/drawing/2014/main" val="3821011902"/>
                    </a:ext>
                  </a:extLst>
                </a:gridCol>
              </a:tblGrid>
              <a:tr h="5195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Sr.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Subject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Code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Course Description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Subject Types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Pre-requisite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Lecture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Practical/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Lab/Tuto..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Credit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extLst>
                  <a:ext uri="{0D108BD9-81ED-4DB2-BD59-A6C34878D82A}">
                    <a16:rowId xmlns:a16="http://schemas.microsoft.com/office/drawing/2014/main" val="1694717556"/>
                  </a:ext>
                </a:extLst>
              </a:tr>
              <a:tr h="1996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CS-3241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Operations Research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-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extLst>
                  <a:ext uri="{0D108BD9-81ED-4DB2-BD59-A6C34878D82A}">
                    <a16:rowId xmlns:a16="http://schemas.microsoft.com/office/drawing/2014/main" val="3003994745"/>
                  </a:ext>
                </a:extLst>
              </a:tr>
              <a:tr h="1996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CS-3212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Computer Vision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-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extLst>
                  <a:ext uri="{0D108BD9-81ED-4DB2-BD59-A6C34878D82A}">
                    <a16:rowId xmlns:a16="http://schemas.microsoft.com/office/drawing/2014/main" val="799471927"/>
                  </a:ext>
                </a:extLst>
              </a:tr>
              <a:tr h="3463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CS-3223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Software Design and Development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CS-3124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extLst>
                  <a:ext uri="{0D108BD9-81ED-4DB2-BD59-A6C34878D82A}">
                    <a16:rowId xmlns:a16="http://schemas.microsoft.com/office/drawing/2014/main" val="4173374033"/>
                  </a:ext>
                </a:extLst>
              </a:tr>
              <a:tr h="3463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CST-3254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1968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Human Computer Interaction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extLst>
                  <a:ext uri="{0D108BD9-81ED-4DB2-BD59-A6C34878D82A}">
                    <a16:rowId xmlns:a16="http://schemas.microsoft.com/office/drawing/2014/main" val="4270680521"/>
                  </a:ext>
                </a:extLst>
              </a:tr>
              <a:tr h="11421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CS-3215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Elective I-A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Advanced Artificial Intelligence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Knowledge Representation and Management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Machine Learning Algorithms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Technical Electives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(Choose </a:t>
                      </a:r>
                      <a:r>
                        <a:rPr lang="en-US" sz="1400">
                          <a:effectLst/>
                          <a:highlight>
                            <a:srgbClr val="FFFF00"/>
                          </a:highlight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 subjects)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-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extLst>
                  <a:ext uri="{0D108BD9-81ED-4DB2-BD59-A6C34878D82A}">
                    <a16:rowId xmlns:a16="http://schemas.microsoft.com/office/drawing/2014/main" val="738396385"/>
                  </a:ext>
                </a:extLst>
              </a:tr>
              <a:tr h="6926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CST-3226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Elective II-A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Data Mining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• Data Analytics and Mining /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• Advanced Database Systems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-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extLst>
                  <a:ext uri="{0D108BD9-81ED-4DB2-BD59-A6C34878D82A}">
                    <a16:rowId xmlns:a16="http://schemas.microsoft.com/office/drawing/2014/main" val="116651206"/>
                  </a:ext>
                </a:extLst>
              </a:tr>
              <a:tr h="6926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7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CST-3217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Elective III-A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Emerging Technologies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Cloud and Virtualization Technology and Applications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-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extLst>
                  <a:ext uri="{0D108BD9-81ED-4DB2-BD59-A6C34878D82A}">
                    <a16:rowId xmlns:a16="http://schemas.microsoft.com/office/drawing/2014/main" val="1346390015"/>
                  </a:ext>
                </a:extLst>
              </a:tr>
              <a:tr h="8658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8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CST-3258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Elective IV-A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Business Information System 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Business Applications and Digital Business Management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extLst>
                  <a:ext uri="{0D108BD9-81ED-4DB2-BD59-A6C34878D82A}">
                    <a16:rowId xmlns:a16="http://schemas.microsoft.com/office/drawing/2014/main" val="49092802"/>
                  </a:ext>
                </a:extLst>
              </a:tr>
              <a:tr h="204774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Total Credit Units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21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52493" marR="52493" marT="0" marB="0" anchor="ctr"/>
                </a:tc>
                <a:extLst>
                  <a:ext uri="{0D108BD9-81ED-4DB2-BD59-A6C34878D82A}">
                    <a16:rowId xmlns:a16="http://schemas.microsoft.com/office/drawing/2014/main" val="2062220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572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713" y="0"/>
            <a:ext cx="10515600" cy="4384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B.C.Sc</a:t>
            </a:r>
            <a:r>
              <a:rPr lang="en-US" dirty="0" smtClean="0"/>
              <a:t>. Syllabus by Semester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395" y="230275"/>
            <a:ext cx="2440709" cy="520411"/>
          </a:xfrm>
        </p:spPr>
        <p:txBody>
          <a:bodyPr/>
          <a:lstStyle/>
          <a:p>
            <a:r>
              <a:rPr lang="en-US" dirty="0" smtClean="0"/>
              <a:t>Semester- 7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74522"/>
              </p:ext>
            </p:extLst>
          </p:nvPr>
        </p:nvGraphicFramePr>
        <p:xfrm>
          <a:off x="354395" y="685579"/>
          <a:ext cx="10761470" cy="64276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7265">
                  <a:extLst>
                    <a:ext uri="{9D8B030D-6E8A-4147-A177-3AD203B41FA5}">
                      <a16:colId xmlns:a16="http://schemas.microsoft.com/office/drawing/2014/main" val="2823748019"/>
                    </a:ext>
                  </a:extLst>
                </a:gridCol>
                <a:gridCol w="1335073">
                  <a:extLst>
                    <a:ext uri="{9D8B030D-6E8A-4147-A177-3AD203B41FA5}">
                      <a16:colId xmlns:a16="http://schemas.microsoft.com/office/drawing/2014/main" val="871989092"/>
                    </a:ext>
                  </a:extLst>
                </a:gridCol>
                <a:gridCol w="3331906">
                  <a:extLst>
                    <a:ext uri="{9D8B030D-6E8A-4147-A177-3AD203B41FA5}">
                      <a16:colId xmlns:a16="http://schemas.microsoft.com/office/drawing/2014/main" val="3714843332"/>
                    </a:ext>
                  </a:extLst>
                </a:gridCol>
                <a:gridCol w="1205873">
                  <a:extLst>
                    <a:ext uri="{9D8B030D-6E8A-4147-A177-3AD203B41FA5}">
                      <a16:colId xmlns:a16="http://schemas.microsoft.com/office/drawing/2014/main" val="1432494102"/>
                    </a:ext>
                  </a:extLst>
                </a:gridCol>
                <a:gridCol w="1087175">
                  <a:extLst>
                    <a:ext uri="{9D8B030D-6E8A-4147-A177-3AD203B41FA5}">
                      <a16:colId xmlns:a16="http://schemas.microsoft.com/office/drawing/2014/main" val="912916558"/>
                    </a:ext>
                  </a:extLst>
                </a:gridCol>
                <a:gridCol w="1039907">
                  <a:extLst>
                    <a:ext uri="{9D8B030D-6E8A-4147-A177-3AD203B41FA5}">
                      <a16:colId xmlns:a16="http://schemas.microsoft.com/office/drawing/2014/main" val="2511775409"/>
                    </a:ext>
                  </a:extLst>
                </a:gridCol>
                <a:gridCol w="1295159">
                  <a:extLst>
                    <a:ext uri="{9D8B030D-6E8A-4147-A177-3AD203B41FA5}">
                      <a16:colId xmlns:a16="http://schemas.microsoft.com/office/drawing/2014/main" val="2075297735"/>
                    </a:ext>
                  </a:extLst>
                </a:gridCol>
                <a:gridCol w="919112">
                  <a:extLst>
                    <a:ext uri="{9D8B030D-6E8A-4147-A177-3AD203B41FA5}">
                      <a16:colId xmlns:a16="http://schemas.microsoft.com/office/drawing/2014/main" val="2030450488"/>
                    </a:ext>
                  </a:extLst>
                </a:gridCol>
              </a:tblGrid>
              <a:tr h="440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Sr.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Subject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Code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Course Description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Subject Types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Pre- requisite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Lecture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Practical/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Lab/Tuto..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Credit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extLst>
                  <a:ext uri="{0D108BD9-81ED-4DB2-BD59-A6C34878D82A}">
                    <a16:rowId xmlns:a16="http://schemas.microsoft.com/office/drawing/2014/main" val="3993708362"/>
                  </a:ext>
                </a:extLst>
              </a:tr>
              <a:tr h="2269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E-4101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Business English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-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extLst>
                  <a:ext uri="{0D108BD9-81ED-4DB2-BD59-A6C34878D82A}">
                    <a16:rowId xmlns:a16="http://schemas.microsoft.com/office/drawing/2014/main" val="3124065349"/>
                  </a:ext>
                </a:extLst>
              </a:tr>
              <a:tr h="2269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CST-4141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Modeling and Simulation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-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extLst>
                  <a:ext uri="{0D108BD9-81ED-4DB2-BD59-A6C34878D82A}">
                    <a16:rowId xmlns:a16="http://schemas.microsoft.com/office/drawing/2014/main" val="933715777"/>
                  </a:ext>
                </a:extLst>
              </a:tr>
              <a:tr h="7391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CST-4112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Parallel and Distributed Computing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Distributed Systems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Introduction to Parallel AA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OS+AA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extLst>
                  <a:ext uri="{0D108BD9-81ED-4DB2-BD59-A6C34878D82A}">
                    <a16:rowId xmlns:a16="http://schemas.microsoft.com/office/drawing/2014/main" val="1333972739"/>
                  </a:ext>
                </a:extLst>
              </a:tr>
              <a:tr h="20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CST-4123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Software Project Management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extLst>
                  <a:ext uri="{0D108BD9-81ED-4DB2-BD59-A6C34878D82A}">
                    <a16:rowId xmlns:a16="http://schemas.microsoft.com/office/drawing/2014/main" val="222067285"/>
                  </a:ext>
                </a:extLst>
              </a:tr>
              <a:tr h="2904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CS-4124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Information Assurance and Security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extLst>
                  <a:ext uri="{0D108BD9-81ED-4DB2-BD59-A6C34878D82A}">
                    <a16:rowId xmlns:a16="http://schemas.microsoft.com/office/drawing/2014/main" val="903742209"/>
                  </a:ext>
                </a:extLst>
              </a:tr>
              <a:tr h="8700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CS-4115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Elective I-B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Advanced Artificial Intelligence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Natural Language Processing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Deep Learning Algorithms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Technical Electives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(Choose 2 subjects)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I-A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extLst>
                  <a:ext uri="{0D108BD9-81ED-4DB2-BD59-A6C34878D82A}">
                    <a16:rowId xmlns:a16="http://schemas.microsoft.com/office/drawing/2014/main" val="1125760961"/>
                  </a:ext>
                </a:extLst>
              </a:tr>
              <a:tr h="7391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7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CS-4126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Elective II-B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Data Science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Data Science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Cyber Security and Digital Forensics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II-A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extLst>
                  <a:ext uri="{0D108BD9-81ED-4DB2-BD59-A6C34878D82A}">
                    <a16:rowId xmlns:a16="http://schemas.microsoft.com/office/drawing/2014/main" val="3219835088"/>
                  </a:ext>
                </a:extLst>
              </a:tr>
              <a:tr h="7391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8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CST-4137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Elective III-B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 Emerging Technologies II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 Blockchain Technology and Applications 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III-A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-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extLst>
                  <a:ext uri="{0D108BD9-81ED-4DB2-BD59-A6C34878D82A}">
                    <a16:rowId xmlns:a16="http://schemas.microsoft.com/office/drawing/2014/main" val="742039058"/>
                  </a:ext>
                </a:extLst>
              </a:tr>
              <a:tr h="5709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9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CST-4158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Elective IV-B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Business Information System 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Enterprise Resource Planning (ERP)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IV-A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extLst>
                  <a:ext uri="{0D108BD9-81ED-4DB2-BD59-A6C34878D82A}">
                    <a16:rowId xmlns:a16="http://schemas.microsoft.com/office/drawing/2014/main" val="4028006308"/>
                  </a:ext>
                </a:extLst>
              </a:tr>
              <a:tr h="172217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Total Credit 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21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47373" marR="47373" marT="0" marB="0" anchor="ctr"/>
                </a:tc>
                <a:extLst>
                  <a:ext uri="{0D108BD9-81ED-4DB2-BD59-A6C34878D82A}">
                    <a16:rowId xmlns:a16="http://schemas.microsoft.com/office/drawing/2014/main" val="2499489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128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348" y="266012"/>
            <a:ext cx="10515600" cy="4384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B.C.Sc</a:t>
            </a:r>
            <a:r>
              <a:rPr lang="en-US" dirty="0" smtClean="0"/>
              <a:t>. Syllabus by Semester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395" y="965771"/>
            <a:ext cx="2440709" cy="520411"/>
          </a:xfrm>
        </p:spPr>
        <p:txBody>
          <a:bodyPr/>
          <a:lstStyle/>
          <a:p>
            <a:r>
              <a:rPr lang="en-US" dirty="0" smtClean="0"/>
              <a:t>Semester- 8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55982" y="1570383"/>
            <a:ext cx="11300791" cy="44229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my-MM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နောက်ဆုံး </a:t>
            </a:r>
            <a:r>
              <a:rPr lang="en-US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Semester-8 </a:t>
            </a:r>
            <a:r>
              <a:rPr lang="my-MM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တွင် ကျောင်းသားများသည် ပြင်ပ  </a:t>
            </a:r>
            <a:r>
              <a:rPr lang="en-US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IT industry </a:t>
            </a:r>
            <a:r>
              <a:rPr lang="my-MM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ရှိ ကုမ္ပဏီများသို့ </a:t>
            </a:r>
            <a:r>
              <a:rPr lang="en-US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Internship </a:t>
            </a:r>
            <a:r>
              <a:rPr lang="my-MM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အနည်းဆုံး(၃) လ မဖြစ်မနေ သွားရောက်ရပါသည်။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my-MM" dirty="0" smtClean="0">
              <a:latin typeface="Pyidaungsu" panose="020B0502040204020203" pitchFamily="34" charset="0"/>
              <a:cs typeface="Pyidaungsu" panose="020B0502040204020203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In this Semester-8, students must complete a minimum three-month internship at external IT companies in industry.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Pyidaungsu" panose="020B0502040204020203" pitchFamily="34" charset="0"/>
              <a:cs typeface="Pyidaungsu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825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112" y="2741357"/>
            <a:ext cx="10515600" cy="4384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B.C.Sc</a:t>
            </a:r>
            <a:r>
              <a:rPr lang="en-US" dirty="0" smtClean="0"/>
              <a:t>. 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173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latin typeface="Pyidaungsu" panose="020B0502040204020203" pitchFamily="34" charset="0"/>
                <a:cs typeface="Pyidaungsu" panose="020B0502040204020203" pitchFamily="34" charset="0"/>
              </a:rPr>
              <a:t>B.C.Tech</a:t>
            </a:r>
            <a:r>
              <a:rPr lang="en-US" b="1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. </a:t>
            </a:r>
            <a:r>
              <a:rPr lang="my-MM" b="1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(ကွန်ပျူတာနည်းပညာ)</a:t>
            </a:r>
            <a:endParaRPr lang="en-US" b="1" dirty="0">
              <a:latin typeface="Pyidaungsu" panose="020B0502040204020203" pitchFamily="34" charset="0"/>
              <a:cs typeface="Pyidaungsu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409" y="1825624"/>
            <a:ext cx="10767391" cy="4664628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dirty="0" err="1" smtClean="0">
                <a:latin typeface="Pyidaungsu" panose="020B0502040204020203" pitchFamily="34" charset="0"/>
                <a:cs typeface="Pyidaungsu" panose="020B0502040204020203" pitchFamily="34" charset="0"/>
              </a:rPr>
              <a:t>B.C.Tech</a:t>
            </a:r>
            <a:r>
              <a:rPr lang="en-US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. </a:t>
            </a:r>
            <a:r>
              <a:rPr lang="en-US" dirty="0">
                <a:latin typeface="Pyidaungsu" panose="020B0502040204020203" pitchFamily="34" charset="0"/>
                <a:cs typeface="Pyidaungsu" panose="020B0502040204020203" pitchFamily="34" charset="0"/>
              </a:rPr>
              <a:t>(Four Years Studies) = 143 Credits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Pyidaungsu" panose="020B0502040204020203" pitchFamily="34" charset="0"/>
                <a:cs typeface="Pyidaungsu" panose="020B0502040204020203" pitchFamily="34" charset="0"/>
              </a:rPr>
              <a:t>Internship	-	12 Credits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Pyidaungsu" panose="020B0502040204020203" pitchFamily="34" charset="0"/>
                <a:cs typeface="Pyidaungsu" panose="020B0502040204020203" pitchFamily="34" charset="0"/>
              </a:rPr>
              <a:t> </a:t>
            </a:r>
            <a:r>
              <a:rPr lang="en-US" b="1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Total </a:t>
            </a:r>
            <a:r>
              <a:rPr lang="en-US" b="1" dirty="0">
                <a:latin typeface="Pyidaungsu" panose="020B0502040204020203" pitchFamily="34" charset="0"/>
                <a:cs typeface="Pyidaungsu" panose="020B0502040204020203" pitchFamily="34" charset="0"/>
              </a:rPr>
              <a:t>Credits – Semester 1 to 8 = 155 Credits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Pyidaungsu" panose="020B0502040204020203" pitchFamily="34" charset="0"/>
                <a:cs typeface="Pyidaungsu" panose="020B0502040204020203" pitchFamily="34" charset="0"/>
              </a:rPr>
              <a:t> </a:t>
            </a:r>
            <a:r>
              <a:rPr lang="en-US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Maximum </a:t>
            </a:r>
            <a:r>
              <a:rPr lang="en-US" dirty="0">
                <a:latin typeface="Pyidaungsu" panose="020B0502040204020203" pitchFamily="34" charset="0"/>
                <a:cs typeface="Pyidaungsu" panose="020B0502040204020203" pitchFamily="34" charset="0"/>
              </a:rPr>
              <a:t>Candidature Period = 7 years </a:t>
            </a:r>
            <a:endParaRPr lang="my-MM" dirty="0" smtClean="0">
              <a:latin typeface="Pyidaungsu" panose="020B0502040204020203" pitchFamily="34" charset="0"/>
              <a:cs typeface="Pyidaungsu" panose="020B0502040204020203" pitchFamily="34" charset="0"/>
            </a:endParaRPr>
          </a:p>
          <a:p>
            <a:pPr>
              <a:lnSpc>
                <a:spcPct val="160000"/>
              </a:lnSpc>
            </a:pPr>
            <a:r>
              <a:rPr lang="en-US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Maximum </a:t>
            </a:r>
            <a:r>
              <a:rPr lang="en-US" dirty="0">
                <a:latin typeface="Pyidaungsu" panose="020B0502040204020203" pitchFamily="34" charset="0"/>
                <a:cs typeface="Pyidaungsu" panose="020B0502040204020203" pitchFamily="34" charset="0"/>
              </a:rPr>
              <a:t>Re-exam time = 3 subjects * 7 semesters = 21 subjects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035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84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B.C.Tech</a:t>
            </a:r>
            <a:r>
              <a:rPr lang="en-US" dirty="0" smtClean="0"/>
              <a:t>. Syllabus by Semester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091" y="1068243"/>
            <a:ext cx="2440709" cy="520411"/>
          </a:xfrm>
        </p:spPr>
        <p:txBody>
          <a:bodyPr/>
          <a:lstStyle/>
          <a:p>
            <a:r>
              <a:rPr lang="en-US" dirty="0" smtClean="0"/>
              <a:t>Semester- 1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59665" y="1853333"/>
          <a:ext cx="10385425" cy="44458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5385">
                  <a:extLst>
                    <a:ext uri="{9D8B030D-6E8A-4147-A177-3AD203B41FA5}">
                      <a16:colId xmlns:a16="http://schemas.microsoft.com/office/drawing/2014/main" val="2584237489"/>
                    </a:ext>
                  </a:extLst>
                </a:gridCol>
                <a:gridCol w="1387842">
                  <a:extLst>
                    <a:ext uri="{9D8B030D-6E8A-4147-A177-3AD203B41FA5}">
                      <a16:colId xmlns:a16="http://schemas.microsoft.com/office/drawing/2014/main" val="3723742969"/>
                    </a:ext>
                  </a:extLst>
                </a:gridCol>
                <a:gridCol w="3198794">
                  <a:extLst>
                    <a:ext uri="{9D8B030D-6E8A-4147-A177-3AD203B41FA5}">
                      <a16:colId xmlns:a16="http://schemas.microsoft.com/office/drawing/2014/main" val="2215285377"/>
                    </a:ext>
                  </a:extLst>
                </a:gridCol>
                <a:gridCol w="935624">
                  <a:extLst>
                    <a:ext uri="{9D8B030D-6E8A-4147-A177-3AD203B41FA5}">
                      <a16:colId xmlns:a16="http://schemas.microsoft.com/office/drawing/2014/main" val="3182407736"/>
                    </a:ext>
                  </a:extLst>
                </a:gridCol>
                <a:gridCol w="1029186">
                  <a:extLst>
                    <a:ext uri="{9D8B030D-6E8A-4147-A177-3AD203B41FA5}">
                      <a16:colId xmlns:a16="http://schemas.microsoft.com/office/drawing/2014/main" val="4174278353"/>
                    </a:ext>
                  </a:extLst>
                </a:gridCol>
                <a:gridCol w="1029186">
                  <a:extLst>
                    <a:ext uri="{9D8B030D-6E8A-4147-A177-3AD203B41FA5}">
                      <a16:colId xmlns:a16="http://schemas.microsoft.com/office/drawing/2014/main" val="3671727238"/>
                    </a:ext>
                  </a:extLst>
                </a:gridCol>
                <a:gridCol w="1264132">
                  <a:extLst>
                    <a:ext uri="{9D8B030D-6E8A-4147-A177-3AD203B41FA5}">
                      <a16:colId xmlns:a16="http://schemas.microsoft.com/office/drawing/2014/main" val="4011387075"/>
                    </a:ext>
                  </a:extLst>
                </a:gridCol>
                <a:gridCol w="1005276">
                  <a:extLst>
                    <a:ext uri="{9D8B030D-6E8A-4147-A177-3AD203B41FA5}">
                      <a16:colId xmlns:a16="http://schemas.microsoft.com/office/drawing/2014/main" val="2893265161"/>
                    </a:ext>
                  </a:extLst>
                </a:gridCol>
              </a:tblGrid>
              <a:tr h="9542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Sr.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Subject Code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Course Description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Type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Pre-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requisite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Lecture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Practical/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Lab/Tuto.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Credit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2252657396"/>
                  </a:ext>
                </a:extLst>
              </a:tr>
              <a:tr h="3932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M-1101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Myanmar Language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0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3369480459"/>
                  </a:ext>
                </a:extLst>
              </a:tr>
              <a:tr h="3643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E-1101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English Proficiency I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674713566"/>
                  </a:ext>
                </a:extLst>
              </a:tr>
              <a:tr h="3932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P-1101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College Physics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2409888504"/>
                  </a:ext>
                </a:extLst>
              </a:tr>
              <a:tr h="3054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CST-1141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Calculus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4047524961"/>
                  </a:ext>
                </a:extLst>
              </a:tr>
              <a:tr h="6298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CST-1102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Principle of Information Technology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1473357688"/>
                  </a:ext>
                </a:extLst>
              </a:tr>
              <a:tr h="4701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CST-1123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Basic Data Processing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0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628230646"/>
                  </a:ext>
                </a:extLst>
              </a:tr>
              <a:tr h="6298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7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CST-1154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Web Development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(HTML5+ CSS)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0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1850904424"/>
                  </a:ext>
                </a:extLst>
              </a:tr>
              <a:tr h="305410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Total Credit 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18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4090426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1995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84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B.C.Tech</a:t>
            </a:r>
            <a:r>
              <a:rPr lang="en-US" dirty="0" smtClean="0"/>
              <a:t>. Syllabus by Semester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091" y="1068243"/>
            <a:ext cx="2440709" cy="520411"/>
          </a:xfrm>
        </p:spPr>
        <p:txBody>
          <a:bodyPr/>
          <a:lstStyle/>
          <a:p>
            <a:r>
              <a:rPr lang="en-US" dirty="0" smtClean="0"/>
              <a:t>Semester- 2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43611" y="1853332"/>
          <a:ext cx="10310191" cy="46269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2213">
                  <a:extLst>
                    <a:ext uri="{9D8B030D-6E8A-4147-A177-3AD203B41FA5}">
                      <a16:colId xmlns:a16="http://schemas.microsoft.com/office/drawing/2014/main" val="3137158877"/>
                    </a:ext>
                  </a:extLst>
                </a:gridCol>
                <a:gridCol w="1411514">
                  <a:extLst>
                    <a:ext uri="{9D8B030D-6E8A-4147-A177-3AD203B41FA5}">
                      <a16:colId xmlns:a16="http://schemas.microsoft.com/office/drawing/2014/main" val="1233018750"/>
                    </a:ext>
                  </a:extLst>
                </a:gridCol>
                <a:gridCol w="3171815">
                  <a:extLst>
                    <a:ext uri="{9D8B030D-6E8A-4147-A177-3AD203B41FA5}">
                      <a16:colId xmlns:a16="http://schemas.microsoft.com/office/drawing/2014/main" val="1844904937"/>
                    </a:ext>
                  </a:extLst>
                </a:gridCol>
                <a:gridCol w="917484">
                  <a:extLst>
                    <a:ext uri="{9D8B030D-6E8A-4147-A177-3AD203B41FA5}">
                      <a16:colId xmlns:a16="http://schemas.microsoft.com/office/drawing/2014/main" val="1142464766"/>
                    </a:ext>
                  </a:extLst>
                </a:gridCol>
                <a:gridCol w="1058636">
                  <a:extLst>
                    <a:ext uri="{9D8B030D-6E8A-4147-A177-3AD203B41FA5}">
                      <a16:colId xmlns:a16="http://schemas.microsoft.com/office/drawing/2014/main" val="3009851280"/>
                    </a:ext>
                  </a:extLst>
                </a:gridCol>
                <a:gridCol w="1009540">
                  <a:extLst>
                    <a:ext uri="{9D8B030D-6E8A-4147-A177-3AD203B41FA5}">
                      <a16:colId xmlns:a16="http://schemas.microsoft.com/office/drawing/2014/main" val="2605167280"/>
                    </a:ext>
                  </a:extLst>
                </a:gridCol>
                <a:gridCol w="1246838">
                  <a:extLst>
                    <a:ext uri="{9D8B030D-6E8A-4147-A177-3AD203B41FA5}">
                      <a16:colId xmlns:a16="http://schemas.microsoft.com/office/drawing/2014/main" val="436432932"/>
                    </a:ext>
                  </a:extLst>
                </a:gridCol>
                <a:gridCol w="992151">
                  <a:extLst>
                    <a:ext uri="{9D8B030D-6E8A-4147-A177-3AD203B41FA5}">
                      <a16:colId xmlns:a16="http://schemas.microsoft.com/office/drawing/2014/main" val="4258570033"/>
                    </a:ext>
                  </a:extLst>
                </a:gridCol>
              </a:tblGrid>
              <a:tr h="936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Sr.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Subject Code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Course Description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Type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Pre-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requisite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Lecture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Practical/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Lab/Tuto.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Credit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2267326311"/>
                  </a:ext>
                </a:extLst>
              </a:tr>
              <a:tr h="4613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M-1201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Myanmar Language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0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787176510"/>
                  </a:ext>
                </a:extLst>
              </a:tr>
              <a:tr h="4235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E-1201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English Proficiency II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1496944849"/>
                  </a:ext>
                </a:extLst>
              </a:tr>
              <a:tr h="499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P-1201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College Physics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3732568823"/>
                  </a:ext>
                </a:extLst>
              </a:tr>
              <a:tr h="3575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CST-1241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Discrete Mathematics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689870925"/>
                  </a:ext>
                </a:extLst>
              </a:tr>
              <a:tr h="6689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CST-1212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Programming Logic &amp; Design  (Programming in C++)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2763411306"/>
                  </a:ext>
                </a:extLst>
              </a:tr>
              <a:tr h="4235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CST-1223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Database Fundamentals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1076231556"/>
                  </a:ext>
                </a:extLst>
              </a:tr>
              <a:tr h="4235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7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CST-1234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Digital and Logic Design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3074349544"/>
                  </a:ext>
                </a:extLst>
              </a:tr>
              <a:tr h="433026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Total Credit 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20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3065760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9854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84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B.C.Tech</a:t>
            </a:r>
            <a:r>
              <a:rPr lang="en-US" dirty="0" smtClean="0"/>
              <a:t>. Syllabus by Semester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091" y="1068243"/>
            <a:ext cx="2440709" cy="520411"/>
          </a:xfrm>
        </p:spPr>
        <p:txBody>
          <a:bodyPr/>
          <a:lstStyle/>
          <a:p>
            <a:r>
              <a:rPr lang="en-US" dirty="0" smtClean="0"/>
              <a:t>Semester- 3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4904" y="1772920"/>
          <a:ext cx="10914669" cy="46875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1161">
                  <a:extLst>
                    <a:ext uri="{9D8B030D-6E8A-4147-A177-3AD203B41FA5}">
                      <a16:colId xmlns:a16="http://schemas.microsoft.com/office/drawing/2014/main" val="3946636096"/>
                    </a:ext>
                  </a:extLst>
                </a:gridCol>
                <a:gridCol w="1413823">
                  <a:extLst>
                    <a:ext uri="{9D8B030D-6E8A-4147-A177-3AD203B41FA5}">
                      <a16:colId xmlns:a16="http://schemas.microsoft.com/office/drawing/2014/main" val="91011462"/>
                    </a:ext>
                  </a:extLst>
                </a:gridCol>
                <a:gridCol w="3534557">
                  <a:extLst>
                    <a:ext uri="{9D8B030D-6E8A-4147-A177-3AD203B41FA5}">
                      <a16:colId xmlns:a16="http://schemas.microsoft.com/office/drawing/2014/main" val="393175509"/>
                    </a:ext>
                  </a:extLst>
                </a:gridCol>
                <a:gridCol w="859757">
                  <a:extLst>
                    <a:ext uri="{9D8B030D-6E8A-4147-A177-3AD203B41FA5}">
                      <a16:colId xmlns:a16="http://schemas.microsoft.com/office/drawing/2014/main" val="1780818193"/>
                    </a:ext>
                  </a:extLst>
                </a:gridCol>
                <a:gridCol w="1146343">
                  <a:extLst>
                    <a:ext uri="{9D8B030D-6E8A-4147-A177-3AD203B41FA5}">
                      <a16:colId xmlns:a16="http://schemas.microsoft.com/office/drawing/2014/main" val="2677664445"/>
                    </a:ext>
                  </a:extLst>
                </a:gridCol>
                <a:gridCol w="1050814">
                  <a:extLst>
                    <a:ext uri="{9D8B030D-6E8A-4147-A177-3AD203B41FA5}">
                      <a16:colId xmlns:a16="http://schemas.microsoft.com/office/drawing/2014/main" val="3218209351"/>
                    </a:ext>
                  </a:extLst>
                </a:gridCol>
                <a:gridCol w="1337400">
                  <a:extLst>
                    <a:ext uri="{9D8B030D-6E8A-4147-A177-3AD203B41FA5}">
                      <a16:colId xmlns:a16="http://schemas.microsoft.com/office/drawing/2014/main" val="1275898045"/>
                    </a:ext>
                  </a:extLst>
                </a:gridCol>
                <a:gridCol w="1050814">
                  <a:extLst>
                    <a:ext uri="{9D8B030D-6E8A-4147-A177-3AD203B41FA5}">
                      <a16:colId xmlns:a16="http://schemas.microsoft.com/office/drawing/2014/main" val="1188926016"/>
                    </a:ext>
                  </a:extLst>
                </a:gridCol>
              </a:tblGrid>
              <a:tr h="10746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Sr.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Subject Code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Course Description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Type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Pre-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requisite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Lecture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Practical/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Lab/Tuto.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Credit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85517436"/>
                  </a:ext>
                </a:extLst>
              </a:tr>
              <a:tr h="421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E-2101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English Proficiency III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E-1201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33988343"/>
                  </a:ext>
                </a:extLst>
              </a:tr>
              <a:tr h="421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CST-2141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Linear Algebra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98182698"/>
                  </a:ext>
                </a:extLst>
              </a:tr>
              <a:tr h="421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CST-2112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Data Structures and Algorithms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71905628"/>
                  </a:ext>
                </a:extLst>
              </a:tr>
              <a:tr h="4103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CST-2113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Programming Language in Java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2639425"/>
                  </a:ext>
                </a:extLst>
              </a:tr>
              <a:tr h="421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CST-2123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Software Engineering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37511748"/>
                  </a:ext>
                </a:extLst>
              </a:tr>
              <a:tr h="7092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CST-2135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Computer Architecture &amp; Organization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CST-1234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21036490"/>
                  </a:ext>
                </a:extLst>
              </a:tr>
              <a:tr h="4645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7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CST-2126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Database Management System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CST-1223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37774917"/>
                  </a:ext>
                </a:extLst>
              </a:tr>
              <a:tr h="343934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Total Credit 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21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04259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13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84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B.C.Tech</a:t>
            </a:r>
            <a:r>
              <a:rPr lang="en-US" dirty="0" smtClean="0"/>
              <a:t>. Syllabus by Semester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091" y="1068243"/>
            <a:ext cx="2440709" cy="520411"/>
          </a:xfrm>
        </p:spPr>
        <p:txBody>
          <a:bodyPr/>
          <a:lstStyle/>
          <a:p>
            <a:r>
              <a:rPr lang="en-US" dirty="0" smtClean="0"/>
              <a:t>Semester- 4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585862"/>
              </p:ext>
            </p:extLst>
          </p:nvPr>
        </p:nvGraphicFramePr>
        <p:xfrm>
          <a:off x="679074" y="1780127"/>
          <a:ext cx="10515397" cy="44821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1526">
                  <a:extLst>
                    <a:ext uri="{9D8B030D-6E8A-4147-A177-3AD203B41FA5}">
                      <a16:colId xmlns:a16="http://schemas.microsoft.com/office/drawing/2014/main" val="3108597453"/>
                    </a:ext>
                  </a:extLst>
                </a:gridCol>
                <a:gridCol w="1250640">
                  <a:extLst>
                    <a:ext uri="{9D8B030D-6E8A-4147-A177-3AD203B41FA5}">
                      <a16:colId xmlns:a16="http://schemas.microsoft.com/office/drawing/2014/main" val="4267221506"/>
                    </a:ext>
                  </a:extLst>
                </a:gridCol>
                <a:gridCol w="3497293">
                  <a:extLst>
                    <a:ext uri="{9D8B030D-6E8A-4147-A177-3AD203B41FA5}">
                      <a16:colId xmlns:a16="http://schemas.microsoft.com/office/drawing/2014/main" val="3273998862"/>
                    </a:ext>
                  </a:extLst>
                </a:gridCol>
                <a:gridCol w="828306">
                  <a:extLst>
                    <a:ext uri="{9D8B030D-6E8A-4147-A177-3AD203B41FA5}">
                      <a16:colId xmlns:a16="http://schemas.microsoft.com/office/drawing/2014/main" val="1945370288"/>
                    </a:ext>
                  </a:extLst>
                </a:gridCol>
                <a:gridCol w="1104408">
                  <a:extLst>
                    <a:ext uri="{9D8B030D-6E8A-4147-A177-3AD203B41FA5}">
                      <a16:colId xmlns:a16="http://schemas.microsoft.com/office/drawing/2014/main" val="3148744493"/>
                    </a:ext>
                  </a:extLst>
                </a:gridCol>
                <a:gridCol w="1012374">
                  <a:extLst>
                    <a:ext uri="{9D8B030D-6E8A-4147-A177-3AD203B41FA5}">
                      <a16:colId xmlns:a16="http://schemas.microsoft.com/office/drawing/2014/main" val="4275963450"/>
                    </a:ext>
                  </a:extLst>
                </a:gridCol>
                <a:gridCol w="1288476">
                  <a:extLst>
                    <a:ext uri="{9D8B030D-6E8A-4147-A177-3AD203B41FA5}">
                      <a16:colId xmlns:a16="http://schemas.microsoft.com/office/drawing/2014/main" val="3340695657"/>
                    </a:ext>
                  </a:extLst>
                </a:gridCol>
                <a:gridCol w="1012374">
                  <a:extLst>
                    <a:ext uri="{9D8B030D-6E8A-4147-A177-3AD203B41FA5}">
                      <a16:colId xmlns:a16="http://schemas.microsoft.com/office/drawing/2014/main" val="820124418"/>
                    </a:ext>
                  </a:extLst>
                </a:gridCol>
              </a:tblGrid>
              <a:tr h="9896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Sr.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Subject Code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Course Description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Type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Pre-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requisite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Lecture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Practical/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Lab/Tuto.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Credit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94506176"/>
                  </a:ext>
                </a:extLst>
              </a:tr>
              <a:tr h="3379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E-2201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English Proficiency IV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75319256"/>
                  </a:ext>
                </a:extLst>
              </a:tr>
              <a:tr h="6531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CST-2241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Numerical Analysis and  Differential Equations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83784242"/>
                  </a:ext>
                </a:extLst>
              </a:tr>
              <a:tr h="3878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CST-2212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Operating System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68426514"/>
                  </a:ext>
                </a:extLst>
              </a:tr>
              <a:tr h="3679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CST-2213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Artificial Intelligence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3440150"/>
                  </a:ext>
                </a:extLst>
              </a:tr>
              <a:tr h="3878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CT-2234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Digital System Design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CST-2135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23519693"/>
                  </a:ext>
                </a:extLst>
              </a:tr>
              <a:tr h="6531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CST-2235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Data Communication and Networking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77056879"/>
                  </a:ext>
                </a:extLst>
              </a:tr>
              <a:tr h="3878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7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CT-2236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Circuits and Electronics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74600847"/>
                  </a:ext>
                </a:extLst>
              </a:tr>
              <a:tr h="316717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Total Credit 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21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63437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645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84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B.C.Tech</a:t>
            </a:r>
            <a:r>
              <a:rPr lang="en-US" dirty="0" smtClean="0"/>
              <a:t>. Syllabus by Semester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091" y="1068243"/>
            <a:ext cx="2440709" cy="520411"/>
          </a:xfrm>
        </p:spPr>
        <p:txBody>
          <a:bodyPr/>
          <a:lstStyle/>
          <a:p>
            <a:r>
              <a:rPr lang="en-US" dirty="0" smtClean="0"/>
              <a:t>Semester- 5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998845"/>
              </p:ext>
            </p:extLst>
          </p:nvPr>
        </p:nvGraphicFramePr>
        <p:xfrm>
          <a:off x="595933" y="1588654"/>
          <a:ext cx="11000134" cy="47506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1411">
                  <a:extLst>
                    <a:ext uri="{9D8B030D-6E8A-4147-A177-3AD203B41FA5}">
                      <a16:colId xmlns:a16="http://schemas.microsoft.com/office/drawing/2014/main" val="1966849988"/>
                    </a:ext>
                  </a:extLst>
                </a:gridCol>
                <a:gridCol w="1457141">
                  <a:extLst>
                    <a:ext uri="{9D8B030D-6E8A-4147-A177-3AD203B41FA5}">
                      <a16:colId xmlns:a16="http://schemas.microsoft.com/office/drawing/2014/main" val="749116658"/>
                    </a:ext>
                  </a:extLst>
                </a:gridCol>
                <a:gridCol w="3286046">
                  <a:extLst>
                    <a:ext uri="{9D8B030D-6E8A-4147-A177-3AD203B41FA5}">
                      <a16:colId xmlns:a16="http://schemas.microsoft.com/office/drawing/2014/main" val="2545067274"/>
                    </a:ext>
                  </a:extLst>
                </a:gridCol>
                <a:gridCol w="1226392">
                  <a:extLst>
                    <a:ext uri="{9D8B030D-6E8A-4147-A177-3AD203B41FA5}">
                      <a16:colId xmlns:a16="http://schemas.microsoft.com/office/drawing/2014/main" val="694930673"/>
                    </a:ext>
                  </a:extLst>
                </a:gridCol>
                <a:gridCol w="1105675">
                  <a:extLst>
                    <a:ext uri="{9D8B030D-6E8A-4147-A177-3AD203B41FA5}">
                      <a16:colId xmlns:a16="http://schemas.microsoft.com/office/drawing/2014/main" val="4017059599"/>
                    </a:ext>
                  </a:extLst>
                </a:gridCol>
                <a:gridCol w="1105675">
                  <a:extLst>
                    <a:ext uri="{9D8B030D-6E8A-4147-A177-3AD203B41FA5}">
                      <a16:colId xmlns:a16="http://schemas.microsoft.com/office/drawing/2014/main" val="983446864"/>
                    </a:ext>
                  </a:extLst>
                </a:gridCol>
                <a:gridCol w="1442185">
                  <a:extLst>
                    <a:ext uri="{9D8B030D-6E8A-4147-A177-3AD203B41FA5}">
                      <a16:colId xmlns:a16="http://schemas.microsoft.com/office/drawing/2014/main" val="223030048"/>
                    </a:ext>
                  </a:extLst>
                </a:gridCol>
                <a:gridCol w="885609">
                  <a:extLst>
                    <a:ext uri="{9D8B030D-6E8A-4147-A177-3AD203B41FA5}">
                      <a16:colId xmlns:a16="http://schemas.microsoft.com/office/drawing/2014/main" val="432038391"/>
                    </a:ext>
                  </a:extLst>
                </a:gridCol>
              </a:tblGrid>
              <a:tr h="104009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Sr.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Subject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Code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Course Description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Subject Types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Pre-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requisite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Lecture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Practical/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Lab/Tuto..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Credit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56672774"/>
                  </a:ext>
                </a:extLst>
              </a:tr>
              <a:tr h="4495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CST-3141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Probability &amp; Statistics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4701385"/>
                  </a:ext>
                </a:extLst>
              </a:tr>
              <a:tr h="51247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CST-3142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Professional Ethics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92811538"/>
                  </a:ext>
                </a:extLst>
              </a:tr>
              <a:tr h="4915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CST-3113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Analysis of Algorithms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80822546"/>
                  </a:ext>
                </a:extLst>
              </a:tr>
              <a:tr h="4495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CT-3134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Electronic Devices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89532990"/>
                  </a:ext>
                </a:extLst>
              </a:tr>
              <a:tr h="4181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CT-3135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Control Systems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0894544"/>
                  </a:ext>
                </a:extLst>
              </a:tr>
              <a:tr h="33287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CST-3136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Computer Networks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CST-2235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00210620"/>
                  </a:ext>
                </a:extLst>
              </a:tr>
              <a:tr h="659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7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CT-3137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Signals and Systems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     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       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          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     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2881883"/>
                  </a:ext>
                </a:extLst>
              </a:tr>
              <a:tr h="397170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Total Credit 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21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19071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004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5905"/>
            <a:ext cx="10515600" cy="4384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B.C.Tech</a:t>
            </a:r>
            <a:r>
              <a:rPr lang="en-US" dirty="0" smtClean="0"/>
              <a:t>. Syllabus by Semester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854" y="584344"/>
            <a:ext cx="2440709" cy="520411"/>
          </a:xfrm>
        </p:spPr>
        <p:txBody>
          <a:bodyPr/>
          <a:lstStyle/>
          <a:p>
            <a:r>
              <a:rPr lang="en-US" dirty="0" smtClean="0"/>
              <a:t>Semester- 6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059145"/>
              </p:ext>
            </p:extLst>
          </p:nvPr>
        </p:nvGraphicFramePr>
        <p:xfrm>
          <a:off x="838200" y="1227756"/>
          <a:ext cx="10515600" cy="57064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5202">
                  <a:extLst>
                    <a:ext uri="{9D8B030D-6E8A-4147-A177-3AD203B41FA5}">
                      <a16:colId xmlns:a16="http://schemas.microsoft.com/office/drawing/2014/main" val="3110429826"/>
                    </a:ext>
                  </a:extLst>
                </a:gridCol>
                <a:gridCol w="1150336">
                  <a:extLst>
                    <a:ext uri="{9D8B030D-6E8A-4147-A177-3AD203B41FA5}">
                      <a16:colId xmlns:a16="http://schemas.microsoft.com/office/drawing/2014/main" val="2728000692"/>
                    </a:ext>
                  </a:extLst>
                </a:gridCol>
                <a:gridCol w="3304903">
                  <a:extLst>
                    <a:ext uri="{9D8B030D-6E8A-4147-A177-3AD203B41FA5}">
                      <a16:colId xmlns:a16="http://schemas.microsoft.com/office/drawing/2014/main" val="1835001588"/>
                    </a:ext>
                  </a:extLst>
                </a:gridCol>
                <a:gridCol w="1165770">
                  <a:extLst>
                    <a:ext uri="{9D8B030D-6E8A-4147-A177-3AD203B41FA5}">
                      <a16:colId xmlns:a16="http://schemas.microsoft.com/office/drawing/2014/main" val="2770047281"/>
                    </a:ext>
                  </a:extLst>
                </a:gridCol>
                <a:gridCol w="1064937">
                  <a:extLst>
                    <a:ext uri="{9D8B030D-6E8A-4147-A177-3AD203B41FA5}">
                      <a16:colId xmlns:a16="http://schemas.microsoft.com/office/drawing/2014/main" val="3531518613"/>
                    </a:ext>
                  </a:extLst>
                </a:gridCol>
                <a:gridCol w="1057734">
                  <a:extLst>
                    <a:ext uri="{9D8B030D-6E8A-4147-A177-3AD203B41FA5}">
                      <a16:colId xmlns:a16="http://schemas.microsoft.com/office/drawing/2014/main" val="4084270090"/>
                    </a:ext>
                  </a:extLst>
                </a:gridCol>
                <a:gridCol w="1370526">
                  <a:extLst>
                    <a:ext uri="{9D8B030D-6E8A-4147-A177-3AD203B41FA5}">
                      <a16:colId xmlns:a16="http://schemas.microsoft.com/office/drawing/2014/main" val="2329507288"/>
                    </a:ext>
                  </a:extLst>
                </a:gridCol>
                <a:gridCol w="896192">
                  <a:extLst>
                    <a:ext uri="{9D8B030D-6E8A-4147-A177-3AD203B41FA5}">
                      <a16:colId xmlns:a16="http://schemas.microsoft.com/office/drawing/2014/main" val="3504100225"/>
                    </a:ext>
                  </a:extLst>
                </a:gridCol>
              </a:tblGrid>
              <a:tr h="6536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Sr.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Subject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Code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Course Description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Subject Types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Pre-requisite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Lecture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Practical/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Lab/Tuto..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Credit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extLst>
                  <a:ext uri="{0D108BD9-81ED-4DB2-BD59-A6C34878D82A}">
                    <a16:rowId xmlns:a16="http://schemas.microsoft.com/office/drawing/2014/main" val="3941243072"/>
                  </a:ext>
                </a:extLst>
              </a:tr>
              <a:tr h="4357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CT-3231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Embedded and Microprocessor Systems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-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extLst>
                  <a:ext uri="{0D108BD9-81ED-4DB2-BD59-A6C34878D82A}">
                    <a16:rowId xmlns:a16="http://schemas.microsoft.com/office/drawing/2014/main" val="2782115299"/>
                  </a:ext>
                </a:extLst>
              </a:tr>
              <a:tr h="3961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CT-3232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Computer and Network Security  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CST-3136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extLst>
                  <a:ext uri="{0D108BD9-81ED-4DB2-BD59-A6C34878D82A}">
                    <a16:rowId xmlns:a16="http://schemas.microsoft.com/office/drawing/2014/main" val="2124162237"/>
                  </a:ext>
                </a:extLst>
              </a:tr>
              <a:tr h="322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CT-3233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Image Processing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-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extLst>
                  <a:ext uri="{0D108BD9-81ED-4DB2-BD59-A6C34878D82A}">
                    <a16:rowId xmlns:a16="http://schemas.microsoft.com/office/drawing/2014/main" val="1441239987"/>
                  </a:ext>
                </a:extLst>
              </a:tr>
              <a:tr h="4357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CST-3254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1968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Human Computer Interaction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extLst>
                  <a:ext uri="{0D108BD9-81ED-4DB2-BD59-A6C34878D82A}">
                    <a16:rowId xmlns:a16="http://schemas.microsoft.com/office/drawing/2014/main" val="2924864982"/>
                  </a:ext>
                </a:extLst>
              </a:tr>
              <a:tr h="315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CT-3235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Digital Signal Processing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CT-3137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extLst>
                  <a:ext uri="{0D108BD9-81ED-4DB2-BD59-A6C34878D82A}">
                    <a16:rowId xmlns:a16="http://schemas.microsoft.com/office/drawing/2014/main" val="4213158780"/>
                  </a:ext>
                </a:extLst>
              </a:tr>
              <a:tr h="6536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CST-3226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Elective I-A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Data Mining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Data Analytic and Mining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Technical Electives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(Choose 2 subjects)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-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extLst>
                  <a:ext uri="{0D108BD9-81ED-4DB2-BD59-A6C34878D82A}">
                    <a16:rowId xmlns:a16="http://schemas.microsoft.com/office/drawing/2014/main" val="2191849450"/>
                  </a:ext>
                </a:extLst>
              </a:tr>
              <a:tr h="8715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7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CST-3217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Elective II-A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Emerging Technologies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Cloud and Virtualization </a:t>
                      </a:r>
                    </a:p>
                    <a:p>
                      <a:pPr marL="1079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Technology and Applications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-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extLst>
                  <a:ext uri="{0D108BD9-81ED-4DB2-BD59-A6C34878D82A}">
                    <a16:rowId xmlns:a16="http://schemas.microsoft.com/office/drawing/2014/main" val="1852354461"/>
                  </a:ext>
                </a:extLst>
              </a:tr>
              <a:tr h="10894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8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CST-3258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Elective III-A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Business Information System 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Business Applications and Digital Business Management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extLst>
                  <a:ext uri="{0D108BD9-81ED-4DB2-BD59-A6C34878D82A}">
                    <a16:rowId xmlns:a16="http://schemas.microsoft.com/office/drawing/2014/main" val="3012265575"/>
                  </a:ext>
                </a:extLst>
              </a:tr>
              <a:tr h="257646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Total Credit 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21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2093" marR="62093" marT="0" marB="0" anchor="ctr"/>
                </a:tc>
                <a:extLst>
                  <a:ext uri="{0D108BD9-81ED-4DB2-BD59-A6C34878D82A}">
                    <a16:rowId xmlns:a16="http://schemas.microsoft.com/office/drawing/2014/main" val="1627451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44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8" y="109683"/>
            <a:ext cx="10515600" cy="4384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B.C.Tech</a:t>
            </a:r>
            <a:r>
              <a:rPr lang="en-US" dirty="0" smtClean="0"/>
              <a:t>. Syllabus by Semester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982" y="618837"/>
            <a:ext cx="2440709" cy="520411"/>
          </a:xfrm>
        </p:spPr>
        <p:txBody>
          <a:bodyPr/>
          <a:lstStyle/>
          <a:p>
            <a:r>
              <a:rPr lang="en-US" dirty="0" smtClean="0"/>
              <a:t>Semester- 7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163381"/>
              </p:ext>
            </p:extLst>
          </p:nvPr>
        </p:nvGraphicFramePr>
        <p:xfrm>
          <a:off x="838198" y="1209963"/>
          <a:ext cx="10781146" cy="52853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8265">
                  <a:extLst>
                    <a:ext uri="{9D8B030D-6E8A-4147-A177-3AD203B41FA5}">
                      <a16:colId xmlns:a16="http://schemas.microsoft.com/office/drawing/2014/main" val="1975783390"/>
                    </a:ext>
                  </a:extLst>
                </a:gridCol>
                <a:gridCol w="1337515">
                  <a:extLst>
                    <a:ext uri="{9D8B030D-6E8A-4147-A177-3AD203B41FA5}">
                      <a16:colId xmlns:a16="http://schemas.microsoft.com/office/drawing/2014/main" val="1084365005"/>
                    </a:ext>
                  </a:extLst>
                </a:gridCol>
                <a:gridCol w="3337999">
                  <a:extLst>
                    <a:ext uri="{9D8B030D-6E8A-4147-A177-3AD203B41FA5}">
                      <a16:colId xmlns:a16="http://schemas.microsoft.com/office/drawing/2014/main" val="2447046758"/>
                    </a:ext>
                  </a:extLst>
                </a:gridCol>
                <a:gridCol w="1208078">
                  <a:extLst>
                    <a:ext uri="{9D8B030D-6E8A-4147-A177-3AD203B41FA5}">
                      <a16:colId xmlns:a16="http://schemas.microsoft.com/office/drawing/2014/main" val="1666025251"/>
                    </a:ext>
                  </a:extLst>
                </a:gridCol>
                <a:gridCol w="1089164">
                  <a:extLst>
                    <a:ext uri="{9D8B030D-6E8A-4147-A177-3AD203B41FA5}">
                      <a16:colId xmlns:a16="http://schemas.microsoft.com/office/drawing/2014/main" val="476634918"/>
                    </a:ext>
                  </a:extLst>
                </a:gridCol>
                <a:gridCol w="1041809">
                  <a:extLst>
                    <a:ext uri="{9D8B030D-6E8A-4147-A177-3AD203B41FA5}">
                      <a16:colId xmlns:a16="http://schemas.microsoft.com/office/drawing/2014/main" val="1617990344"/>
                    </a:ext>
                  </a:extLst>
                </a:gridCol>
                <a:gridCol w="1297526">
                  <a:extLst>
                    <a:ext uri="{9D8B030D-6E8A-4147-A177-3AD203B41FA5}">
                      <a16:colId xmlns:a16="http://schemas.microsoft.com/office/drawing/2014/main" val="262509550"/>
                    </a:ext>
                  </a:extLst>
                </a:gridCol>
                <a:gridCol w="920790">
                  <a:extLst>
                    <a:ext uri="{9D8B030D-6E8A-4147-A177-3AD203B41FA5}">
                      <a16:colId xmlns:a16="http://schemas.microsoft.com/office/drawing/2014/main" val="3755047775"/>
                    </a:ext>
                  </a:extLst>
                </a:gridCol>
              </a:tblGrid>
              <a:tr h="6276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Sr.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Subject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Code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Course Description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Subject Types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Pre- requisite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Lecture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Practical/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Lab/Tuto..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(Credit)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Credit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Units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extLst>
                  <a:ext uri="{0D108BD9-81ED-4DB2-BD59-A6C34878D82A}">
                    <a16:rowId xmlns:a16="http://schemas.microsoft.com/office/drawing/2014/main" val="1955002280"/>
                  </a:ext>
                </a:extLst>
              </a:tr>
              <a:tr h="3342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Eng-4101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Business English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-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extLst>
                  <a:ext uri="{0D108BD9-81ED-4DB2-BD59-A6C34878D82A}">
                    <a16:rowId xmlns:a16="http://schemas.microsoft.com/office/drawing/2014/main" val="880479813"/>
                  </a:ext>
                </a:extLst>
              </a:tr>
              <a:tr h="3032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CT-4131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Cyber Security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extLst>
                  <a:ext uri="{0D108BD9-81ED-4DB2-BD59-A6C34878D82A}">
                    <a16:rowId xmlns:a16="http://schemas.microsoft.com/office/drawing/2014/main" val="3515433467"/>
                  </a:ext>
                </a:extLst>
              </a:tr>
              <a:tr h="8368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CST-4112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Parallel and Distributed Computing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Distributed Systems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Introduction to Parallel AA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OS+AA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extLst>
                  <a:ext uri="{0D108BD9-81ED-4DB2-BD59-A6C34878D82A}">
                    <a16:rowId xmlns:a16="http://schemas.microsoft.com/office/drawing/2014/main" val="612095725"/>
                  </a:ext>
                </a:extLst>
              </a:tr>
              <a:tr h="3032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CST-4123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Software Project Management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extLst>
                  <a:ext uri="{0D108BD9-81ED-4DB2-BD59-A6C34878D82A}">
                    <a16:rowId xmlns:a16="http://schemas.microsoft.com/office/drawing/2014/main" val="251353501"/>
                  </a:ext>
                </a:extLst>
              </a:tr>
              <a:tr h="4184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CT-4134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254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Embedded Systems Integrating to IoT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Core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CT-3231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extLst>
                  <a:ext uri="{0D108BD9-81ED-4DB2-BD59-A6C34878D82A}">
                    <a16:rowId xmlns:a16="http://schemas.microsoft.com/office/drawing/2014/main" val="2322911606"/>
                  </a:ext>
                </a:extLst>
              </a:tr>
              <a:tr h="4184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CT-4125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Elective I-B 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Data Science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Technical Electives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(Choose 2 subjects)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-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extLst>
                  <a:ext uri="{0D108BD9-81ED-4DB2-BD59-A6C34878D82A}">
                    <a16:rowId xmlns:a16="http://schemas.microsoft.com/office/drawing/2014/main" val="3371406480"/>
                  </a:ext>
                </a:extLst>
              </a:tr>
              <a:tr h="489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7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CT-4136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Elective II-B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Digital Forensics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-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extLst>
                  <a:ext uri="{0D108BD9-81ED-4DB2-BD59-A6C34878D82A}">
                    <a16:rowId xmlns:a16="http://schemas.microsoft.com/office/drawing/2014/main" val="379989336"/>
                  </a:ext>
                </a:extLst>
              </a:tr>
              <a:tr h="4768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8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CT-4137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Elective IV-B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Embedded Robotics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CT-3231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extLst>
                  <a:ext uri="{0D108BD9-81ED-4DB2-BD59-A6C34878D82A}">
                    <a16:rowId xmlns:a16="http://schemas.microsoft.com/office/drawing/2014/main" val="4272254123"/>
                  </a:ext>
                </a:extLst>
              </a:tr>
              <a:tr h="6276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9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CST-4158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Elective III-B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Enterprise Resource Planning (ERP)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-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1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3</a:t>
                      </a:r>
                      <a:endParaRPr lang="en-US" sz="140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extLst>
                  <a:ext uri="{0D108BD9-81ED-4DB2-BD59-A6C34878D82A}">
                    <a16:rowId xmlns:a16="http://schemas.microsoft.com/office/drawing/2014/main" val="326813853"/>
                  </a:ext>
                </a:extLst>
              </a:tr>
              <a:tr h="253587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Total Credit Units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Pyidaungsu" panose="020B0502040204020203" pitchFamily="34" charset="0"/>
                          <a:cs typeface="Pyidaungsu" panose="020B0502040204020203" pitchFamily="34" charset="0"/>
                        </a:rPr>
                        <a:t>21</a:t>
                      </a:r>
                      <a:endParaRPr lang="en-US" sz="1400" dirty="0">
                        <a:effectLst/>
                        <a:latin typeface="Pyidaungsu" panose="020B0502040204020203" pitchFamily="34" charset="0"/>
                        <a:ea typeface="Times New Roman" panose="02020603050405020304" pitchFamily="18" charset="0"/>
                        <a:cs typeface="Pyidaungsu" panose="020B0502040204020203" pitchFamily="34" charset="0"/>
                      </a:endParaRPr>
                    </a:p>
                  </a:txBody>
                  <a:tcPr marL="63632" marR="63632" marT="0" marB="0" anchor="ctr"/>
                </a:tc>
                <a:extLst>
                  <a:ext uri="{0D108BD9-81ED-4DB2-BD59-A6C34878D82A}">
                    <a16:rowId xmlns:a16="http://schemas.microsoft.com/office/drawing/2014/main" val="2649371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5565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348" y="266012"/>
            <a:ext cx="10515600" cy="4384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B.C.Tech</a:t>
            </a:r>
            <a:r>
              <a:rPr lang="en-US" dirty="0" smtClean="0"/>
              <a:t>. Syllabus by Semester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395" y="965771"/>
            <a:ext cx="2440709" cy="520411"/>
          </a:xfrm>
        </p:spPr>
        <p:txBody>
          <a:bodyPr/>
          <a:lstStyle/>
          <a:p>
            <a:r>
              <a:rPr lang="en-US" dirty="0" smtClean="0"/>
              <a:t>Semester- 8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75252" y="1570383"/>
            <a:ext cx="11102009" cy="44229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my-MM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နောက်ဆုံး </a:t>
            </a:r>
            <a:r>
              <a:rPr lang="en-US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Semester-8 </a:t>
            </a:r>
            <a:r>
              <a:rPr lang="my-MM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တွင် ကျောင်းသားများသည် ပြင်ပ  </a:t>
            </a:r>
            <a:r>
              <a:rPr lang="en-US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IT industry </a:t>
            </a:r>
            <a:r>
              <a:rPr lang="my-MM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ရှိ ကုမ္ပဏီများသို့ </a:t>
            </a:r>
            <a:r>
              <a:rPr lang="en-US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Internship </a:t>
            </a:r>
            <a:r>
              <a:rPr lang="my-MM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အနည်းဆုံး(၃) လ မဖြစ်မနေ သွားရောက်ရပါသည်။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my-MM" dirty="0" smtClean="0">
              <a:latin typeface="Pyidaungsu" panose="020B0502040204020203" pitchFamily="34" charset="0"/>
              <a:cs typeface="Pyidaungsu" panose="020B0502040204020203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>
                <a:latin typeface="Pyidaungsu" panose="020B0502040204020203" pitchFamily="34" charset="0"/>
                <a:cs typeface="Pyidaungsu" panose="020B0502040204020203" pitchFamily="34" charset="0"/>
              </a:rPr>
              <a:t>In this Semester-8, students must complete a minimum three-month internship at external IT companies in industry.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Pyidaungsu" panose="020B0502040204020203" pitchFamily="34" charset="0"/>
              <a:cs typeface="Pyidaungsu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406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112" y="2741357"/>
            <a:ext cx="10515600" cy="4384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B.C.Tech</a:t>
            </a:r>
            <a:r>
              <a:rPr lang="en-US" dirty="0" smtClean="0"/>
              <a:t>. 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93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1996</Words>
  <Application>Microsoft Office PowerPoint</Application>
  <PresentationFormat>Widescreen</PresentationFormat>
  <Paragraphs>1146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Pyidaungsu</vt:lpstr>
      <vt:lpstr>Symbol</vt:lpstr>
      <vt:lpstr>Times New Roman</vt:lpstr>
      <vt:lpstr>Office Theme</vt:lpstr>
      <vt:lpstr>2025-2026 Academic Year</vt:lpstr>
      <vt:lpstr>B.C.Sc. (ကွန်ပျူတာသိပ္ပံ)</vt:lpstr>
      <vt:lpstr>B.C.Sc. Syllabus by Semester</vt:lpstr>
      <vt:lpstr>B.C.Sc. Syllabus by Semester</vt:lpstr>
      <vt:lpstr>B.C.Sc. Syllabus by Semester</vt:lpstr>
      <vt:lpstr>B.C.Sc. Syllabus by Semester</vt:lpstr>
      <vt:lpstr>B.C.Sc. Syllabus by Semester</vt:lpstr>
      <vt:lpstr>B.C.Sc. Syllabus by Semester</vt:lpstr>
      <vt:lpstr>B.C.Sc. Syllabus by Semester</vt:lpstr>
      <vt:lpstr>B.C.Sc. Syllabus by Semester</vt:lpstr>
      <vt:lpstr>B.C.Sc. End</vt:lpstr>
      <vt:lpstr>B.C.Tech. (ကွန်ပျူတာနည်းပညာ)</vt:lpstr>
      <vt:lpstr>B.C.Tech. Syllabus by Semester</vt:lpstr>
      <vt:lpstr>B.C.Tech. Syllabus by Semester</vt:lpstr>
      <vt:lpstr>B.C.Tech. Syllabus by Semester</vt:lpstr>
      <vt:lpstr>B.C.Tech. Syllabus by Semester</vt:lpstr>
      <vt:lpstr>B.C.Tech. Syllabus by Semester</vt:lpstr>
      <vt:lpstr>B.C.Tech. Syllabus by Semester</vt:lpstr>
      <vt:lpstr>B.C.Tech. Syllabus by Semester</vt:lpstr>
      <vt:lpstr>B.C.Tech. Syllabus by Semester</vt:lpstr>
      <vt:lpstr>B.C.Tech.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2025-2026 Academic Year</dc:title>
  <dc:creator>DELL</dc:creator>
  <cp:lastModifiedBy>DELL</cp:lastModifiedBy>
  <cp:revision>20</cp:revision>
  <dcterms:created xsi:type="dcterms:W3CDTF">2026-05-16T06:23:27Z</dcterms:created>
  <dcterms:modified xsi:type="dcterms:W3CDTF">2026-05-16T06:46:20Z</dcterms:modified>
</cp:coreProperties>
</file>